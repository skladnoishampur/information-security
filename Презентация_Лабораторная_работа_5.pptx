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4630400" cy="8229600"/>
  <p:notesSz cx="8229600" cy="14630400"/>
  <p:embeddedFontLst>
    <p:embeddedFont>
      <p:font typeface="Inter" panose="02000503000000020004" pitchFamily="34" charset="0"/>
      <p:bold r:id="rId12"/>
    </p:embeddedFont>
    <p:embeddedFont>
      <p:font typeface="Inter" panose="02000503000000020004" pitchFamily="34" charset="-122"/>
      <p:bold r:id="rId13"/>
    </p:embeddedFont>
    <p:embeddedFont>
      <p:font typeface="Inter" panose="02000503000000020004" pitchFamily="34" charset="-120"/>
      <p:bold r:id="rId14"/>
    </p:embeddedFont>
    <p:embeddedFont>
      <p:font typeface="Calibri" panose="020F0502020204030204" charset="0"/>
      <p:regular r:id="rId15"/>
      <p:bold r:id="rId16"/>
      <p:italic r:id="rId17"/>
      <p:boldItalic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7.fntdata"/><Relationship Id="rId17" Type="http://schemas.openxmlformats.org/officeDocument/2006/relationships/font" Target="fonts/font6.fntdata"/><Relationship Id="rId16" Type="http://schemas.openxmlformats.org/officeDocument/2006/relationships/font" Target="fonts/font5.fntdata"/><Relationship Id="rId15" Type="http://schemas.openxmlformats.org/officeDocument/2006/relationships/font" Target="fonts/font4.fntdata"/><Relationship Id="rId14" Type="http://schemas.openxmlformats.org/officeDocument/2006/relationships/font" Target="fonts/font3.fntdata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31482"/>
            <a:ext cx="13042821" cy="1956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Отчёт по лабораторной работе №</a:t>
            </a:r>
            <a:r>
              <a:rPr lang="ru-RU" alt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ru-RU" altLang="en-US" sz="6150" b="1" dirty="0">
              <a:solidFill>
                <a:srgbClr val="000000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937516" y="4628078"/>
            <a:ext cx="6755249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Изучение файловой системы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5535216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454890" y="7326630"/>
            <a:ext cx="2158365" cy="8807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9736455" y="7562215"/>
            <a:ext cx="4876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ru-RU" altLang="en-US"/>
              <a:t>Выполнил: Студент НБИБД-01-24</a:t>
            </a:r>
            <a:br>
              <a:rPr lang="ru-RU" altLang="en-US"/>
            </a:br>
            <a:r>
              <a:rPr lang="ru-RU" altLang="en-US"/>
              <a:t>Ошкодер Сергей Александрович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4558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Цель работы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86965"/>
            <a:ext cx="13042821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Целью данной лабораторной работы является изучение структуры и поведения файловой системы операционной системы, получение практических навыков работы с её основными компонентами и инструментами, а также анализ влияния различных операций на целостность и производительность хранилища данных.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1583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Основные задачи: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510326"/>
            <a:ext cx="13042821" cy="24945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Изучить архитектуру файловой системы и её ключевые компоненты (inode, каталоги, метаданные).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Научиться выполнять базовые операции с файлами и каталогами: создание, удаление, перемещение и изменение прав доступа.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Исследовать методы управления пространством: выделение блоков, фрагментация и методы дефрагментации.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Оценить влияние операций ввода-вывода на производительность (чтение/запись, буферизация, кэширование).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Провести анализ целостности данных и методов восстановления после сбоев.</a:t>
            </a:r>
            <a:endParaRPr lang="en-US" sz="175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2454890" y="7326630"/>
            <a:ext cx="2158365" cy="8807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2763"/>
            <a:ext cx="9784318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Результаты анализа прав доступа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15170"/>
            <a:ext cx="13042821" cy="3780711"/>
          </a:xfrm>
          <a:prstGeom prst="roundRect">
            <a:avLst>
              <a:gd name="adj" fmla="val 252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322790"/>
            <a:ext cx="13027581" cy="1739027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1029176" y="2466499"/>
            <a:ext cx="84522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Права директория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2335649" y="2466499"/>
            <a:ext cx="8414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Права файла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3638312" y="2466499"/>
            <a:ext cx="8414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Сохр. файла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940975" y="2466499"/>
            <a:ext cx="8414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Удал. файла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243638" y="2466499"/>
            <a:ext cx="8414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Запись в файл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46300" y="2466499"/>
            <a:ext cx="84141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Чтение файла (cd)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848963" y="2466499"/>
            <a:ext cx="84141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Смена атрибут.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151626" y="2466499"/>
            <a:ext cx="841415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Просмотр файла (ls)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1454289" y="2466499"/>
            <a:ext cx="841415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Переименование файла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2756952" y="2466499"/>
            <a:ext cx="84522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Смена владельца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01410" y="4061817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1029176" y="4205526"/>
            <a:ext cx="84522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d-x (100)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2335649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(000)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3638312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4940975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6243638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546300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8848963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0151626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1454289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12756952" y="4205526"/>
            <a:ext cx="84522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endParaRPr lang="en-US" sz="1750" dirty="0"/>
          </a:p>
        </p:txBody>
      </p:sp>
      <p:sp>
        <p:nvSpPr>
          <p:cNvPr id="26" name="Shape 24"/>
          <p:cNvSpPr/>
          <p:nvPr/>
        </p:nvSpPr>
        <p:spPr>
          <a:xfrm>
            <a:off x="801410" y="5075039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1029176" y="5218748"/>
            <a:ext cx="84522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d-x (100)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2335649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(700)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3638312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4940975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6243638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7546300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8848963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10151626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5" name="Text 33"/>
          <p:cNvSpPr/>
          <p:nvPr/>
        </p:nvSpPr>
        <p:spPr>
          <a:xfrm>
            <a:off x="11454289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6" name="Text 34"/>
          <p:cNvSpPr/>
          <p:nvPr/>
        </p:nvSpPr>
        <p:spPr>
          <a:xfrm>
            <a:off x="12756952" y="5218748"/>
            <a:ext cx="84522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793790" y="6351032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Таблица показывает влияние прав доступа на возможность выполнения различных операций с файлами и директориями.</a:t>
            </a:r>
            <a:endParaRPr lang="en-US" sz="1750" dirty="0"/>
          </a:p>
        </p:txBody>
      </p:sp>
      <p:sp>
        <p:nvSpPr>
          <p:cNvPr id="38" name="Прямоугольник 37"/>
          <p:cNvSpPr/>
          <p:nvPr/>
        </p:nvSpPr>
        <p:spPr>
          <a:xfrm>
            <a:off x="12454890" y="7326630"/>
            <a:ext cx="2158365" cy="8807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8424" y="750689"/>
            <a:ext cx="9309497" cy="6503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Минимальные права для операций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728424" y="1782961"/>
            <a:ext cx="13173551" cy="4842629"/>
          </a:xfrm>
          <a:prstGeom prst="roundRect">
            <a:avLst>
              <a:gd name="adj" fmla="val 180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044" y="1790581"/>
            <a:ext cx="13158311" cy="88272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944404" y="1912739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Операция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1491" y="1912739"/>
            <a:ext cx="3523536" cy="6384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Минимальные права на директорию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58889" y="1912739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Минимальные права на файл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6044" y="2673310"/>
            <a:ext cx="13158311" cy="563523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944404" y="2795468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Создание файла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1491" y="2795468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-wx (3)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58889" y="2795468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—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6044" y="3236833"/>
            <a:ext cx="13158311" cy="563523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944404" y="3358991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Удаление файла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1491" y="3358991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-wx (3)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58889" y="3358991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6044" y="3800356"/>
            <a:ext cx="13158311" cy="563523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944404" y="3922514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Чтение файла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1491" y="3922514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r-x (1)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58889" y="3922514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r-- (4)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6044" y="4363879"/>
            <a:ext cx="13158311" cy="563523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944404" y="4486037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Запись в файл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1491" y="4486037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r-x (1)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58889" y="4486037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-w- (2)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6044" y="4927402"/>
            <a:ext cx="13158311" cy="563523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944404" y="5049560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Переименование файла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11491" y="5049560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-wx (3)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58889" y="5049560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—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6044" y="5490924"/>
            <a:ext cx="13158311" cy="563523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944404" y="5613083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Создание подпапки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11491" y="5613083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-wx (3)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158889" y="5613083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—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6044" y="6054447"/>
            <a:ext cx="13158311" cy="563523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944404" y="6176605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Удаление подпапки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11491" y="6176605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-wx (3)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158889" y="6176605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—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8424" y="6840379"/>
            <a:ext cx="13173551" cy="6384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Таблица демонстрирует минимально необходимые права доступа для выполнения основных операций с файлами и директориями в файловой системе.</a:t>
            </a:r>
            <a:endParaRPr lang="en-US" sz="1600" dirty="0"/>
          </a:p>
        </p:txBody>
      </p:sp>
      <p:sp>
        <p:nvSpPr>
          <p:cNvPr id="37" name="Прямоугольник 36"/>
          <p:cNvSpPr/>
          <p:nvPr/>
        </p:nvSpPr>
        <p:spPr>
          <a:xfrm>
            <a:off x="12454890" y="7326630"/>
            <a:ext cx="2158365" cy="8807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935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10320"/>
            <a:ext cx="5965627" cy="6734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Выводы и результаты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93790" y="4490799"/>
            <a:ext cx="4211122" cy="2922032"/>
          </a:xfrm>
          <a:prstGeom prst="roundRect">
            <a:avLst>
              <a:gd name="adj" fmla="val 309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16794" y="4713803"/>
            <a:ext cx="3165634" cy="3365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Гранулярный контроль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16794" y="5173147"/>
            <a:ext cx="3765113" cy="16805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Изучены различные комбинации прав доступа (чтение, запись, выполнение) и их влияние на возможности взаимодействия с файлами и директориями.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5209580" y="4490799"/>
            <a:ext cx="4211122" cy="2922032"/>
          </a:xfrm>
          <a:prstGeom prst="roundRect">
            <a:avLst>
              <a:gd name="adj" fmla="val 309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32584" y="4713803"/>
            <a:ext cx="2784038" cy="3365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Ключевое право "x"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432584" y="5173147"/>
            <a:ext cx="3765113" cy="16805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Выявлена критическая роль права на выполнение ('x') для директорий, позволяющего просматривать их содержимое и перемещаться по ним.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9625370" y="4490799"/>
            <a:ext cx="4211122" cy="2922032"/>
          </a:xfrm>
          <a:prstGeom prst="roundRect">
            <a:avLst>
              <a:gd name="adj" fmla="val 309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48374" y="4713803"/>
            <a:ext cx="3718679" cy="3365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Практическое применение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848374" y="5173147"/>
            <a:ext cx="3765113" cy="201668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Полученные знания необходимы для эффективной защиты данных, предотвращения несанкционированного доступа и быстрого решения проблем с правами.</a:t>
            </a:r>
            <a:endParaRPr lang="en-US" sz="165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12454890" y="7571105"/>
            <a:ext cx="2158365" cy="6362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2143</Words>
  <Application>WPS Presentation</Application>
  <PresentationFormat>On-screen Show (16:9)</PresentationFormat>
  <Paragraphs>148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0" baseType="lpstr">
      <vt:lpstr>Arial</vt:lpstr>
      <vt:lpstr>SimSun</vt:lpstr>
      <vt:lpstr>Wingdings</vt:lpstr>
      <vt:lpstr>Inter Bold</vt:lpstr>
      <vt:lpstr>Segoe Print</vt:lpstr>
      <vt:lpstr>Inter Bold</vt:lpstr>
      <vt:lpstr>Inter Bold</vt:lpstr>
      <vt:lpstr>Inter</vt:lpstr>
      <vt:lpstr>Inter</vt:lpstr>
      <vt:lpstr>Inter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GUCCI_SQUIZZY</cp:lastModifiedBy>
  <cp:revision>5</cp:revision>
  <dcterms:created xsi:type="dcterms:W3CDTF">2026-02-28T13:38:00Z</dcterms:created>
  <dcterms:modified xsi:type="dcterms:W3CDTF">2026-04-05T14:14:22Z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BFF2154A5450428AA1A9E0332A792649_13</vt:lpwstr>
  </property>
  <property fmtid="{D5CDD505-2E9C-101B-9397-08002B2CF9AE}" pid="3" name="KSOProductBuildVer">
    <vt:lpwstr>1049-12.2.0.23196</vt:lpwstr>
  </property>
</Properties>
</file>